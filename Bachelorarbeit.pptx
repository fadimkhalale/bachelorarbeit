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6" r:id="rId2"/>
    <p:sldId id="257" r:id="rId3"/>
    <p:sldId id="280" r:id="rId4"/>
    <p:sldId id="258" r:id="rId5"/>
    <p:sldId id="263" r:id="rId6"/>
    <p:sldId id="259" r:id="rId7"/>
    <p:sldId id="260" r:id="rId8"/>
    <p:sldId id="261" r:id="rId9"/>
    <p:sldId id="262" r:id="rId10"/>
    <p:sldId id="264" r:id="rId11"/>
    <p:sldId id="265" r:id="rId12"/>
    <p:sldId id="266" r:id="rId13"/>
    <p:sldId id="267" r:id="rId14"/>
    <p:sldId id="268" r:id="rId15"/>
    <p:sldId id="270" r:id="rId16"/>
    <p:sldId id="272" r:id="rId17"/>
    <p:sldId id="273" r:id="rId18"/>
    <p:sldId id="274" r:id="rId19"/>
    <p:sldId id="276" r:id="rId20"/>
    <p:sldId id="275" r:id="rId21"/>
    <p:sldId id="278" r:id="rId22"/>
    <p:sldId id="277" r:id="rId23"/>
    <p:sldId id="271" r:id="rId24"/>
    <p:sldId id="279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517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51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616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72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993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905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83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445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8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256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487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167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05" r:id="rId6"/>
    <p:sldLayoutId id="2147483701" r:id="rId7"/>
    <p:sldLayoutId id="2147483702" r:id="rId8"/>
    <p:sldLayoutId id="2147483703" r:id="rId9"/>
    <p:sldLayoutId id="2147483704" r:id="rId10"/>
    <p:sldLayoutId id="214748370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C88933B-CFB2-4662-9CA9-2C1E08385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09EEE1-52DB-4A86-AFCE-CCE904184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2"/>
            <a:ext cx="12192000" cy="685734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53902F54-156D-2393-F647-3C54A85830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7314" y="587829"/>
            <a:ext cx="7260772" cy="2394857"/>
          </a:xfrm>
        </p:spPr>
        <p:txBody>
          <a:bodyPr>
            <a:normAutofit/>
          </a:bodyPr>
          <a:lstStyle/>
          <a:p>
            <a:r>
              <a:rPr lang="de-DE" sz="3200" b="1" dirty="0">
                <a:latin typeface="Arial" panose="020B0604020202020204" pitchFamily="34" charset="0"/>
                <a:cs typeface="Arial" panose="020B0604020202020204" pitchFamily="34" charset="0"/>
              </a:rPr>
              <a:t>Digitale Umsetzung eines Prozesses in der Hochschulverwaltung am Beispiel der Lehrplanung für ein Semester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B32C727-D956-440E-DA56-559A91D1F0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66456" y="4724400"/>
            <a:ext cx="7475285" cy="1817914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Fadi Mkhalale</a:t>
            </a:r>
          </a:p>
          <a:p>
            <a:pPr>
              <a:lnSpc>
                <a:spcPct val="110000"/>
              </a:lnSpc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Bachelorarbeit zur Erlangung des Grades Bachelor of Science</a:t>
            </a:r>
          </a:p>
          <a:p>
            <a:pPr>
              <a:lnSpc>
                <a:spcPct val="110000"/>
              </a:lnSpc>
            </a:pPr>
            <a:r>
              <a:rPr lang="de-DE" sz="1600" dirty="0">
                <a:latin typeface="Arial" panose="020B0604020202020204" pitchFamily="34" charset="0"/>
                <a:cs typeface="Arial" panose="020B0604020202020204" pitchFamily="34" charset="0"/>
              </a:rPr>
              <a:t>im Studiengang Informatik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A7EDBF86-BE9A-E9A4-6FAC-294E033FDE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353" r="17817" b="-1"/>
          <a:stretch>
            <a:fillRect/>
          </a:stretch>
        </p:blipFill>
        <p:spPr>
          <a:xfrm>
            <a:off x="-2573" y="10"/>
            <a:ext cx="4811317" cy="6857988"/>
          </a:xfrm>
          <a:custGeom>
            <a:avLst/>
            <a:gdLst/>
            <a:ahLst/>
            <a:cxnLst/>
            <a:rect l="l" t="t" r="r" b="b"/>
            <a:pathLst>
              <a:path w="4811317" h="6857998">
                <a:moveTo>
                  <a:pt x="0" y="0"/>
                </a:moveTo>
                <a:lnTo>
                  <a:pt x="4811317" y="0"/>
                </a:lnTo>
                <a:lnTo>
                  <a:pt x="2712446" y="6857998"/>
                </a:lnTo>
                <a:lnTo>
                  <a:pt x="0" y="6857998"/>
                </a:lnTo>
                <a:close/>
              </a:path>
            </a:pathLst>
          </a:cu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26FE4BA-3BD1-4AB3-A3EB-39FF16D96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3418764" y="0"/>
            <a:ext cx="815637" cy="685734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BD85EF3-E980-4EF9-BF91-C0540D302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  <a:endCxn id="15" idx="2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468380"/>
            <a:ext cx="6096000" cy="1389619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6545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52B717E-679E-41A4-B95A-8F7DFAD3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23">
            <a:extLst>
              <a:ext uri="{FF2B5EF4-FFF2-40B4-BE49-F238E27FC236}">
                <a16:creationId xmlns:a16="http://schemas.microsoft.com/office/drawing/2014/main" id="{0B0EB278-F8C7-43AD-BCE2-A2F4D98C4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1"/>
            <a:ext cx="7960944" cy="6859759"/>
          </a:xfrm>
          <a:custGeom>
            <a:avLst/>
            <a:gdLst>
              <a:gd name="connsiteX0" fmla="*/ 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0 w 5803153"/>
              <a:gd name="connsiteY4" fmla="*/ 0 h 6857998"/>
              <a:gd name="connsiteX0" fmla="*/ 1016000 w 5803153"/>
              <a:gd name="connsiteY0" fmla="*/ 0 h 6857998"/>
              <a:gd name="connsiteX1" fmla="*/ 5803153 w 5803153"/>
              <a:gd name="connsiteY1" fmla="*/ 0 h 6857998"/>
              <a:gd name="connsiteX2" fmla="*/ 5803153 w 5803153"/>
              <a:gd name="connsiteY2" fmla="*/ 6857998 h 6857998"/>
              <a:gd name="connsiteX3" fmla="*/ 0 w 5803153"/>
              <a:gd name="connsiteY3" fmla="*/ 6857998 h 6857998"/>
              <a:gd name="connsiteX4" fmla="*/ 1016000 w 5803153"/>
              <a:gd name="connsiteY4" fmla="*/ 0 h 6857998"/>
              <a:gd name="connsiteX0" fmla="*/ 1338729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338729 w 6125882"/>
              <a:gd name="connsiteY4" fmla="*/ 0 h 6857998"/>
              <a:gd name="connsiteX0" fmla="*/ 1697317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1697317 w 6125882"/>
              <a:gd name="connsiteY4" fmla="*/ 0 h 6857998"/>
              <a:gd name="connsiteX0" fmla="*/ 2702091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2702091 w 6125882"/>
              <a:gd name="connsiteY4" fmla="*/ 0 h 6857998"/>
              <a:gd name="connsiteX0" fmla="*/ 3837993 w 6125882"/>
              <a:gd name="connsiteY0" fmla="*/ 0 h 6857998"/>
              <a:gd name="connsiteX1" fmla="*/ 6125882 w 6125882"/>
              <a:gd name="connsiteY1" fmla="*/ 0 h 6857998"/>
              <a:gd name="connsiteX2" fmla="*/ 6125882 w 6125882"/>
              <a:gd name="connsiteY2" fmla="*/ 6857998 h 6857998"/>
              <a:gd name="connsiteX3" fmla="*/ 0 w 6125882"/>
              <a:gd name="connsiteY3" fmla="*/ 6846045 h 6857998"/>
              <a:gd name="connsiteX4" fmla="*/ 3837993 w 6125882"/>
              <a:gd name="connsiteY4" fmla="*/ 0 h 6857998"/>
              <a:gd name="connsiteX0" fmla="*/ 3244301 w 6125882"/>
              <a:gd name="connsiteY0" fmla="*/ 0 h 6868949"/>
              <a:gd name="connsiteX1" fmla="*/ 6125882 w 6125882"/>
              <a:gd name="connsiteY1" fmla="*/ 10951 h 6868949"/>
              <a:gd name="connsiteX2" fmla="*/ 6125882 w 6125882"/>
              <a:gd name="connsiteY2" fmla="*/ 6868949 h 6868949"/>
              <a:gd name="connsiteX3" fmla="*/ 0 w 6125882"/>
              <a:gd name="connsiteY3" fmla="*/ 6856996 h 6868949"/>
              <a:gd name="connsiteX4" fmla="*/ 3244301 w 6125882"/>
              <a:gd name="connsiteY4" fmla="*/ 0 h 6868949"/>
              <a:gd name="connsiteX0" fmla="*/ 3010169 w 6125882"/>
              <a:gd name="connsiteY0" fmla="*/ 0 h 6868949"/>
              <a:gd name="connsiteX1" fmla="*/ 6125882 w 6125882"/>
              <a:gd name="connsiteY1" fmla="*/ 10951 h 6868949"/>
              <a:gd name="connsiteX2" fmla="*/ 6125882 w 6125882"/>
              <a:gd name="connsiteY2" fmla="*/ 6868949 h 6868949"/>
              <a:gd name="connsiteX3" fmla="*/ 0 w 6125882"/>
              <a:gd name="connsiteY3" fmla="*/ 6856996 h 6868949"/>
              <a:gd name="connsiteX4" fmla="*/ 3010169 w 6125882"/>
              <a:gd name="connsiteY4" fmla="*/ 0 h 6868949"/>
              <a:gd name="connsiteX0" fmla="*/ 2951635 w 6067348"/>
              <a:gd name="connsiteY0" fmla="*/ 0 h 6868949"/>
              <a:gd name="connsiteX1" fmla="*/ 6067348 w 6067348"/>
              <a:gd name="connsiteY1" fmla="*/ 10951 h 6868949"/>
              <a:gd name="connsiteX2" fmla="*/ 6067348 w 6067348"/>
              <a:gd name="connsiteY2" fmla="*/ 6868949 h 6868949"/>
              <a:gd name="connsiteX3" fmla="*/ 0 w 6067348"/>
              <a:gd name="connsiteY3" fmla="*/ 6867946 h 6868949"/>
              <a:gd name="connsiteX4" fmla="*/ 2951635 w 6067348"/>
              <a:gd name="connsiteY4" fmla="*/ 0 h 6868949"/>
              <a:gd name="connsiteX0" fmla="*/ 2762929 w 6067348"/>
              <a:gd name="connsiteY0" fmla="*/ 0 h 6859759"/>
              <a:gd name="connsiteX1" fmla="*/ 6067348 w 6067348"/>
              <a:gd name="connsiteY1" fmla="*/ 1761 h 6859759"/>
              <a:gd name="connsiteX2" fmla="*/ 6067348 w 6067348"/>
              <a:gd name="connsiteY2" fmla="*/ 6859759 h 6859759"/>
              <a:gd name="connsiteX3" fmla="*/ 0 w 6067348"/>
              <a:gd name="connsiteY3" fmla="*/ 6858756 h 6859759"/>
              <a:gd name="connsiteX4" fmla="*/ 2762929 w 6067348"/>
              <a:gd name="connsiteY4" fmla="*/ 0 h 6859759"/>
              <a:gd name="connsiteX0" fmla="*/ 2675315 w 6067348"/>
              <a:gd name="connsiteY0" fmla="*/ 0 h 6859759"/>
              <a:gd name="connsiteX1" fmla="*/ 6067348 w 6067348"/>
              <a:gd name="connsiteY1" fmla="*/ 1761 h 6859759"/>
              <a:gd name="connsiteX2" fmla="*/ 6067348 w 6067348"/>
              <a:gd name="connsiteY2" fmla="*/ 6859759 h 6859759"/>
              <a:gd name="connsiteX3" fmla="*/ 0 w 6067348"/>
              <a:gd name="connsiteY3" fmla="*/ 6858756 h 6859759"/>
              <a:gd name="connsiteX4" fmla="*/ 2675315 w 6067348"/>
              <a:gd name="connsiteY4" fmla="*/ 0 h 6859759"/>
              <a:gd name="connsiteX0" fmla="*/ 2446171 w 5838204"/>
              <a:gd name="connsiteY0" fmla="*/ 0 h 6859759"/>
              <a:gd name="connsiteX1" fmla="*/ 5838204 w 5838204"/>
              <a:gd name="connsiteY1" fmla="*/ 1761 h 6859759"/>
              <a:gd name="connsiteX2" fmla="*/ 5838204 w 5838204"/>
              <a:gd name="connsiteY2" fmla="*/ 6859759 h 6859759"/>
              <a:gd name="connsiteX3" fmla="*/ 0 w 5838204"/>
              <a:gd name="connsiteY3" fmla="*/ 6858756 h 6859759"/>
              <a:gd name="connsiteX4" fmla="*/ 2446171 w 5838204"/>
              <a:gd name="connsiteY4" fmla="*/ 0 h 6859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838204" h="6859759">
                <a:moveTo>
                  <a:pt x="2446171" y="0"/>
                </a:moveTo>
                <a:lnTo>
                  <a:pt x="5838204" y="1761"/>
                </a:lnTo>
                <a:lnTo>
                  <a:pt x="5838204" y="6859759"/>
                </a:lnTo>
                <a:lnTo>
                  <a:pt x="0" y="6858756"/>
                </a:lnTo>
                <a:lnTo>
                  <a:pt x="2446171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960A37C-762F-55D8-CD28-85FCD2A831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0350" y="541964"/>
            <a:ext cx="4768938" cy="883239"/>
          </a:xfrm>
        </p:spPr>
        <p:txBody>
          <a:bodyPr>
            <a:normAutofit/>
          </a:bodyPr>
          <a:lstStyle/>
          <a:p>
            <a:pPr algn="l"/>
            <a:r>
              <a:rPr lang="de-DE" sz="5400" dirty="0"/>
              <a:t>Inhalt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6F83E4E-FA79-0ABB-F17F-A0F3C68E8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350" y="2329543"/>
            <a:ext cx="4768938" cy="3975338"/>
          </a:xfrm>
        </p:spPr>
        <p:txBody>
          <a:bodyPr>
            <a:noAutofit/>
          </a:bodyPr>
          <a:lstStyle/>
          <a:p>
            <a:pPr algn="l">
              <a:lnSpc>
                <a:spcPct val="110000"/>
              </a:lnSpc>
              <a:defRPr sz="2400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Motivation &amp; Problemstellung</a:t>
            </a:r>
          </a:p>
          <a:p>
            <a:pPr algn="l">
              <a:lnSpc>
                <a:spcPct val="110000"/>
              </a:lnSpc>
              <a:defRPr sz="2400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Forschungsfragen</a:t>
            </a:r>
          </a:p>
          <a:p>
            <a:pPr algn="l">
              <a:lnSpc>
                <a:spcPct val="110000"/>
              </a:lnSpc>
              <a:defRPr sz="2400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Anforderungen</a:t>
            </a:r>
          </a:p>
          <a:p>
            <a:pPr algn="l">
              <a:lnSpc>
                <a:spcPct val="110000"/>
              </a:lnSpc>
              <a:defRPr sz="2400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System &amp; Technologien</a:t>
            </a:r>
          </a:p>
          <a:p>
            <a:pPr algn="l">
              <a:lnSpc>
                <a:spcPct val="110000"/>
              </a:lnSpc>
              <a:defRPr sz="2400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Implementierung (Kurzüberblick)</a:t>
            </a:r>
          </a:p>
          <a:p>
            <a:pPr algn="l">
              <a:lnSpc>
                <a:spcPct val="110000"/>
              </a:lnSpc>
              <a:defRPr sz="2400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Auswertung &amp; Ergebnisse</a:t>
            </a:r>
          </a:p>
          <a:p>
            <a:pPr algn="l">
              <a:lnSpc>
                <a:spcPct val="110000"/>
              </a:lnSpc>
              <a:defRPr sz="2400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Fazit und Evaluation</a:t>
            </a:r>
          </a:p>
          <a:p>
            <a:pPr algn="l">
              <a:lnSpc>
                <a:spcPct val="110000"/>
              </a:lnSpc>
              <a:defRPr sz="2400"/>
            </a:pPr>
            <a:r>
              <a:rPr lang="de-DE" sz="1200" dirty="0">
                <a:latin typeface="Arial" panose="020B0604020202020204" pitchFamily="34" charset="0"/>
                <a:cs typeface="Arial" panose="020B0604020202020204" pitchFamily="34" charset="0"/>
              </a:rPr>
              <a:t>Fragen</a:t>
            </a:r>
          </a:p>
          <a:p>
            <a:pPr algn="l">
              <a:lnSpc>
                <a:spcPct val="110000"/>
              </a:lnSpc>
            </a:pPr>
            <a:endParaRPr lang="de-DE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0A7A0AD-25ED-4137-AA04-A0E36CAA8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1187" y="10631"/>
            <a:ext cx="876073" cy="68580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86F20B-6445-4368-B022-F9EABF15A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9307961" y="640726"/>
            <a:ext cx="2884039" cy="621727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9F97BBF-9EBF-4BEE-B39C-E6C666941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9434086" y="0"/>
            <a:ext cx="2757914" cy="142520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Prüfliste">
            <a:extLst>
              <a:ext uri="{FF2B5EF4-FFF2-40B4-BE49-F238E27FC236}">
                <a16:creationId xmlns:a16="http://schemas.microsoft.com/office/drawing/2014/main" id="{2E51A9DD-FB8F-042C-B907-751C5C958C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0" y="651981"/>
            <a:ext cx="55626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93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5F0A9D0-BB35-4CAB-B92D-E061B9D8E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2F5DE35-776B-4C7D-AF2E-514E68BDD2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0" y="0"/>
            <a:ext cx="698360" cy="57024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A65E4E8-1272-4386-BDFE-0129D7A7E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9642143" y="0"/>
            <a:ext cx="2549857" cy="207446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A6515F51-DBC6-42B8-9C34-749F69BB6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0897737" y="0"/>
            <a:ext cx="1294263" cy="599136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2DD8E213-CEAD-7C34-3089-FCBD80B26F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9553" y="638174"/>
            <a:ext cx="10529048" cy="147637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/>
              <a:t>Motivation &amp; Problemstellung</a:t>
            </a:r>
            <a:br>
              <a:rPr lang="en-US" sz="4400"/>
            </a:br>
            <a:endParaRPr lang="en-US" sz="440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73F5967-4993-405D-A3E6-84DCEFF44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2403086" cy="103723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Untertitel 2">
            <a:extLst>
              <a:ext uri="{FF2B5EF4-FFF2-40B4-BE49-F238E27FC236}">
                <a16:creationId xmlns:a16="http://schemas.microsoft.com/office/drawing/2014/main" id="{6130A228-AEA9-33B3-189D-511F24A876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9553" y="1647825"/>
            <a:ext cx="4632341" cy="4657055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1500" b="0" dirty="0" err="1"/>
              <a:t>digitalisierung</a:t>
            </a:r>
            <a:r>
              <a:rPr lang="de-DE" sz="1500" b="0" dirty="0"/>
              <a:t> ist für Hochschulen inzwischen ein zentrales Handlungsfeld.</a:t>
            </a:r>
          </a:p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1500" b="0" dirty="0"/>
              <a:t>die Corona-Pandemie als Katalysator für den digitalen Wandel an Universitäten</a:t>
            </a:r>
          </a:p>
          <a:p>
            <a:pPr marL="2857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1500" b="0" dirty="0"/>
              <a:t>Besagt </a:t>
            </a:r>
            <a:r>
              <a:rPr lang="en-US" sz="1500" b="0" dirty="0"/>
              <a:t>Eine </a:t>
            </a:r>
            <a:r>
              <a:rPr lang="en-US" sz="1500" b="0" dirty="0" err="1"/>
              <a:t>aktuelle</a:t>
            </a:r>
            <a:r>
              <a:rPr lang="en-US" sz="1500" b="0" dirty="0"/>
              <a:t> </a:t>
            </a:r>
            <a:r>
              <a:rPr lang="en-US" sz="1500" b="0" dirty="0" err="1"/>
              <a:t>Untersuchung</a:t>
            </a:r>
            <a:r>
              <a:rPr lang="en-US" sz="1500" b="0" dirty="0"/>
              <a:t> </a:t>
            </a:r>
            <a:r>
              <a:rPr lang="en-US" sz="1500" dirty="0"/>
              <a:t>(Studie: 31 </a:t>
            </a:r>
            <a:r>
              <a:rPr lang="en-US" sz="1500" dirty="0" err="1"/>
              <a:t>größte</a:t>
            </a:r>
            <a:r>
              <a:rPr lang="en-US" sz="1500" dirty="0"/>
              <a:t> deutsche </a:t>
            </a:r>
            <a:r>
              <a:rPr lang="en-US" sz="1500" dirty="0" err="1"/>
              <a:t>Universitäten</a:t>
            </a:r>
            <a:r>
              <a:rPr lang="en-US" sz="1500" dirty="0"/>
              <a:t>) </a:t>
            </a:r>
            <a:r>
              <a:rPr lang="en-US" sz="1500" b="0" dirty="0" err="1"/>
              <a:t>zeigt</a:t>
            </a:r>
            <a:r>
              <a:rPr lang="en-US" sz="1500" b="0" dirty="0"/>
              <a:t>, </a:t>
            </a:r>
            <a:r>
              <a:rPr lang="en-US" sz="1500" b="0" dirty="0" err="1"/>
              <a:t>dass</a:t>
            </a:r>
            <a:r>
              <a:rPr lang="en-US" sz="1500" b="0" dirty="0"/>
              <a:t>:</a:t>
            </a:r>
          </a:p>
          <a:p>
            <a:pPr marL="400050" indent="-285750" algn="l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500" dirty="0"/>
              <a:t> 66,3 % der </a:t>
            </a:r>
            <a:r>
              <a:rPr lang="en-US" sz="1500" dirty="0" err="1"/>
              <a:t>Hochschulen</a:t>
            </a:r>
            <a:r>
              <a:rPr lang="en-US" sz="1500" dirty="0"/>
              <a:t> </a:t>
            </a:r>
            <a:r>
              <a:rPr lang="en-US" sz="1500" dirty="0" err="1"/>
              <a:t>Prüfungs</a:t>
            </a:r>
            <a:r>
              <a:rPr lang="en-US" sz="1500" dirty="0"/>
              <a:t>- und </a:t>
            </a:r>
            <a:r>
              <a:rPr lang="en-US" sz="1500" dirty="0" err="1"/>
              <a:t>Notenbescheide</a:t>
            </a:r>
            <a:r>
              <a:rPr lang="en-US" sz="1500" dirty="0"/>
              <a:t> digital </a:t>
            </a:r>
            <a:r>
              <a:rPr lang="en-US" sz="1500" dirty="0" err="1"/>
              <a:t>versenden</a:t>
            </a:r>
            <a:r>
              <a:rPr lang="en-US" sz="1500" dirty="0"/>
              <a:t>,</a:t>
            </a:r>
          </a:p>
          <a:p>
            <a:pPr marL="400050" indent="-285750" algn="l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500" dirty="0"/>
              <a:t>55,8 % </a:t>
            </a:r>
            <a:r>
              <a:rPr lang="en-US" sz="1500" dirty="0" err="1"/>
              <a:t>vollständig</a:t>
            </a:r>
            <a:r>
              <a:rPr lang="en-US" sz="1500" dirty="0"/>
              <a:t> </a:t>
            </a:r>
            <a:r>
              <a:rPr lang="en-US" sz="1500" dirty="0" err="1"/>
              <a:t>digitale</a:t>
            </a:r>
            <a:r>
              <a:rPr lang="en-US" sz="1500" dirty="0"/>
              <a:t> </a:t>
            </a:r>
            <a:r>
              <a:rPr lang="en-US" sz="1500" dirty="0" err="1"/>
              <a:t>Bewerbungsverfahren</a:t>
            </a:r>
            <a:r>
              <a:rPr lang="en-US" sz="1500" dirty="0"/>
              <a:t> </a:t>
            </a:r>
            <a:r>
              <a:rPr lang="en-US" sz="1500" dirty="0" err="1"/>
              <a:t>nutzen</a:t>
            </a:r>
            <a:r>
              <a:rPr lang="en-US" sz="1500" dirty="0"/>
              <a:t>,</a:t>
            </a:r>
          </a:p>
          <a:p>
            <a:pPr marL="400050" indent="-285750" algn="l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500" dirty="0"/>
              <a:t> 41,9 % die </a:t>
            </a:r>
            <a:r>
              <a:rPr lang="en-US" sz="1500" dirty="0" err="1"/>
              <a:t>Immatrikulation</a:t>
            </a:r>
            <a:r>
              <a:rPr lang="en-US" sz="1500" dirty="0"/>
              <a:t> </a:t>
            </a:r>
            <a:r>
              <a:rPr lang="en-US" sz="1500" dirty="0" err="1"/>
              <a:t>komplett</a:t>
            </a:r>
            <a:r>
              <a:rPr lang="en-US" sz="1500" dirty="0"/>
              <a:t> online </a:t>
            </a:r>
            <a:r>
              <a:rPr lang="en-US" sz="1500" dirty="0" err="1"/>
              <a:t>abwickeln</a:t>
            </a:r>
            <a:endParaRPr lang="en-US" sz="1500" dirty="0"/>
          </a:p>
          <a:p>
            <a:pPr marL="40005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de-DE" sz="1500" b="0" dirty="0"/>
              <a:t>Formulare sind zwar elektronisch ausfüllbar, der weitere Ablauf erfolgt aber häufig über Ausdrucke und manuelle Schritte. Teilweise digitalisierte Abläufe genügen nicht</a:t>
            </a:r>
          </a:p>
          <a:p>
            <a:pPr marL="342900" indent="-228600" algn="l">
              <a:lnSpc>
                <a:spcPct val="90000"/>
              </a:lnSpc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3A523CC-BD6C-4A0D-B9DB-1DC2CE1E2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807758" y="5501473"/>
            <a:ext cx="5455709" cy="135652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 descr="Glühlampe">
            <a:extLst>
              <a:ext uri="{FF2B5EF4-FFF2-40B4-BE49-F238E27FC236}">
                <a16:creationId xmlns:a16="http://schemas.microsoft.com/office/drawing/2014/main" id="{C7C99FED-CF38-84E4-5F9D-7CB614640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98492" y="2114549"/>
            <a:ext cx="4210052" cy="4210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822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7" name="Rectangle 66">
            <a:extLst>
              <a:ext uri="{FF2B5EF4-FFF2-40B4-BE49-F238E27FC236}">
                <a16:creationId xmlns:a16="http://schemas.microsoft.com/office/drawing/2014/main" id="{1AF3C8EA-7A37-4A07-BDF2-89EBD3DF2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in Bild, das Diagramm, Text, Plan, technische Zeichnung enthält.&#10;&#10;KI-generierte Inhalte können fehlerhaft sein.">
            <a:extLst>
              <a:ext uri="{FF2B5EF4-FFF2-40B4-BE49-F238E27FC236}">
                <a16:creationId xmlns:a16="http://schemas.microsoft.com/office/drawing/2014/main" id="{350116D8-CC55-7712-F543-3F88A515E4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03" b="323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319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1775E6C-9FE7-4AE4-ABE7-2568D95DE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1D8699-067D-4768-9F87-3E302B3797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0B6C523-2B09-5B49-3643-70527646A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533401"/>
            <a:ext cx="8695167" cy="1677894"/>
          </a:xfrm>
        </p:spPr>
        <p:txBody>
          <a:bodyPr>
            <a:normAutofit/>
          </a:bodyPr>
          <a:lstStyle/>
          <a:p>
            <a:r>
              <a:rPr lang="de-DE" dirty="0"/>
              <a:t>Forschungsfragen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8A66062-E0FE-4EE7-9840-EC05B87AC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4358640" cy="5334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3111227-34AA-122C-7006-F99F1F50E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29554" y="2211294"/>
            <a:ext cx="9299688" cy="3869766"/>
          </a:xfrm>
        </p:spPr>
        <p:txBody>
          <a:bodyPr anchor="ctr">
            <a:normAutofit/>
          </a:bodyPr>
          <a:lstStyle/>
          <a:p>
            <a:r>
              <a:rPr lang="de-DE" dirty="0"/>
              <a:t>Ist es möglich den gesamten Prozess zu digitalisieren, von der Dateneingabe bis hin zur automatisierten Erstellung und Filterung von PDF-Dokumenten?</a:t>
            </a:r>
          </a:p>
          <a:p>
            <a:r>
              <a:rPr lang="de-DE" dirty="0"/>
              <a:t> Inwiefern verändert die Digitalisierung die Prozessdauer, die Fehlerquote und den Aufwand bei der Formularverarbeitung im Vergleich zum vorherigen Verfahren?</a:t>
            </a:r>
          </a:p>
          <a:p>
            <a:r>
              <a:rPr lang="de-DE" dirty="0"/>
              <a:t> Welche wirtschaftlichen Effekte ergeben sich aus der Digitalisierung der Formularprozesse?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A364443-B44B-44C9-B8C4-AED23CB6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-10633"/>
            <a:ext cx="1398104" cy="4450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3087726-EFA7-48B6-8527-80902BB558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282519" y="-10633"/>
            <a:ext cx="1909481" cy="505477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84CA14D-52DC-4F3C-A1CE-235B99A179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02400" y="0"/>
            <a:ext cx="5689600" cy="163342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3B4C179-2540-4304-9C9C-2AAAA53EFD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0" y="5718313"/>
            <a:ext cx="5357757" cy="115032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5950BAB-F521-4A52-A263-D105789771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779565" y="6033977"/>
            <a:ext cx="3412435" cy="834656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3940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B2BAECB-35E2-4DD9-8B8C-22D215DD0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ine Hand mit einem Stift und schattierte Kreise auf einem Blatt">
            <a:extLst>
              <a:ext uri="{FF2B5EF4-FFF2-40B4-BE49-F238E27FC236}">
                <a16:creationId xmlns:a16="http://schemas.microsoft.com/office/drawing/2014/main" id="{12D37FE0-01D9-6CE7-1086-8FA753B9A5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9925" r="15454" b="-1"/>
          <a:stretch>
            <a:fillRect/>
          </a:stretch>
        </p:blipFill>
        <p:spPr>
          <a:xfrm>
            <a:off x="6938682" y="10"/>
            <a:ext cx="5253320" cy="6857990"/>
          </a:xfrm>
          <a:custGeom>
            <a:avLst/>
            <a:gdLst/>
            <a:ahLst/>
            <a:cxnLst/>
            <a:rect l="l" t="t" r="r" b="b"/>
            <a:pathLst>
              <a:path w="5253320" h="6858000">
                <a:moveTo>
                  <a:pt x="722088" y="0"/>
                </a:moveTo>
                <a:lnTo>
                  <a:pt x="5253320" y="0"/>
                </a:lnTo>
                <a:lnTo>
                  <a:pt x="5253320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D639166-2925-9582-A103-8AFEBE591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4901" y="467834"/>
            <a:ext cx="6132605" cy="1738422"/>
          </a:xfrm>
        </p:spPr>
        <p:txBody>
          <a:bodyPr>
            <a:normAutofit/>
          </a:bodyPr>
          <a:lstStyle/>
          <a:p>
            <a:r>
              <a:rPr lang="de-DE" dirty="0"/>
              <a:t>Anforderungen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3AC671C-E66F-43C5-A66A-C477339D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5528235" y="0"/>
            <a:ext cx="6663765" cy="99209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0303B8E-FC81-F48B-E154-667C7BA72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4902" y="2206255"/>
            <a:ext cx="5487146" cy="4118345"/>
          </a:xfrm>
        </p:spPr>
        <p:txBody>
          <a:bodyPr>
            <a:normAutofit/>
          </a:bodyPr>
          <a:lstStyle/>
          <a:p>
            <a:r>
              <a:rPr lang="de-DE" dirty="0"/>
              <a:t>1. Vollständige Digitalisierung des Prozesses</a:t>
            </a:r>
          </a:p>
          <a:p>
            <a:r>
              <a:rPr lang="de-DE" dirty="0"/>
              <a:t>2. Ausfüllen beider Dokumente</a:t>
            </a:r>
          </a:p>
          <a:p>
            <a:r>
              <a:rPr lang="de-DE" dirty="0"/>
              <a:t>3. Zugriffskontrolle</a:t>
            </a:r>
          </a:p>
          <a:p>
            <a:r>
              <a:rPr lang="de-DE" dirty="0"/>
              <a:t>4. Ausfülldaten sind sichtbar und </a:t>
            </a:r>
            <a:r>
              <a:rPr lang="de-DE" dirty="0" err="1"/>
              <a:t>auflistbar</a:t>
            </a:r>
            <a:r>
              <a:rPr lang="de-DE" dirty="0"/>
              <a:t> </a:t>
            </a:r>
          </a:p>
          <a:p>
            <a:r>
              <a:rPr lang="de-DE" dirty="0"/>
              <a:t>5. Prüf- und Freigabeworkflow</a:t>
            </a:r>
          </a:p>
          <a:p>
            <a:r>
              <a:rPr lang="de-DE" dirty="0"/>
              <a:t>6. Filter- und Suchfunktionen </a:t>
            </a:r>
          </a:p>
          <a:p>
            <a:r>
              <a:rPr lang="de-DE" dirty="0"/>
              <a:t>7. PDF-Generierung</a:t>
            </a:r>
          </a:p>
        </p:txBody>
      </p:sp>
    </p:spTree>
    <p:extLst>
      <p:ext uri="{BB962C8B-B14F-4D97-AF65-F5344CB8AC3E}">
        <p14:creationId xmlns:p14="http://schemas.microsoft.com/office/powerpoint/2010/main" val="2242359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DD16DE02-C2C8-477C-9FD7-70A983BDE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3AF29F-D5EC-4489-BF8F-3B356C5972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3"/>
            <a:ext cx="12192000" cy="20089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0173A01-F891-430E-B39E-483E711B2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E0363E9-7CD0-497E-88D7-9401364903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78117" y="0"/>
            <a:ext cx="340591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CCD4B14-FFCC-4CE5-BC9D-DF47AA1AD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1150" y="1171094"/>
            <a:ext cx="4860850" cy="8240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5DED734-54E5-48ED-AEE6-165F24827C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968704" y="0"/>
            <a:ext cx="2147217" cy="199511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55AB90DC-41F6-20AC-AE84-3EEEB30A3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29553" y="584791"/>
            <a:ext cx="10064376" cy="1086847"/>
          </a:xfrm>
        </p:spPr>
        <p:txBody>
          <a:bodyPr>
            <a:normAutofit/>
          </a:bodyPr>
          <a:lstStyle/>
          <a:p>
            <a:r>
              <a:rPr lang="de-DE" sz="3400"/>
              <a:t>Anwendungsfälle </a:t>
            </a:r>
            <a:br>
              <a:rPr lang="de-DE" sz="3400"/>
            </a:br>
            <a:r>
              <a:rPr lang="de-DE" sz="3400"/>
              <a:t>Use-Case-Diagramm 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4222167-616B-448F-A79B-219A4FD3D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94353" y="0"/>
            <a:ext cx="239059" cy="200955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nhaltsplatzhalter 4" descr="Ein Bild, das Text, Diagramm, Reihe, parallel enthält.&#10;&#10;KI-generierte Inhalte können fehlerhaft sein.">
            <a:extLst>
              <a:ext uri="{FF2B5EF4-FFF2-40B4-BE49-F238E27FC236}">
                <a16:creationId xmlns:a16="http://schemas.microsoft.com/office/drawing/2014/main" id="{103B86A9-0CCA-8B7B-1AB0-53639A1E6E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0297" y="1995117"/>
            <a:ext cx="7655218" cy="482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500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8222250-799A-4AD0-9BD1-BE6EB7A06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770432A-C0A6-4D4F-AE2C-705049DAB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6244921" y="-5976"/>
            <a:ext cx="5947079" cy="6874927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677452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693787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842978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435688"/>
              <a:gd name="connsiteY0" fmla="*/ 0 h 6874927"/>
              <a:gd name="connsiteX1" fmla="*/ 4435688 w 4435688"/>
              <a:gd name="connsiteY1" fmla="*/ 4763 h 6874927"/>
              <a:gd name="connsiteX2" fmla="*/ 3842978 w 4435688"/>
              <a:gd name="connsiteY2" fmla="*/ 6874927 h 6874927"/>
              <a:gd name="connsiteX3" fmla="*/ 0 w 4435688"/>
              <a:gd name="connsiteY3" fmla="*/ 6863976 h 6874927"/>
              <a:gd name="connsiteX4" fmla="*/ 0 w 4435688"/>
              <a:gd name="connsiteY4" fmla="*/ 0 h 6874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5688" h="6874927">
                <a:moveTo>
                  <a:pt x="0" y="0"/>
                </a:moveTo>
                <a:lnTo>
                  <a:pt x="4435688" y="4763"/>
                </a:lnTo>
                <a:lnTo>
                  <a:pt x="3842978" y="6874927"/>
                </a:lnTo>
                <a:lnTo>
                  <a:pt x="0" y="686397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78F3E36-22D1-A0A9-2AB3-6FABE29D4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705" y="542926"/>
            <a:ext cx="4439894" cy="1668143"/>
          </a:xfrm>
        </p:spPr>
        <p:txBody>
          <a:bodyPr>
            <a:normAutofit/>
          </a:bodyPr>
          <a:lstStyle/>
          <a:p>
            <a:r>
              <a:rPr lang="de-DE" sz="2400"/>
              <a:t>Systemarchitektur</a:t>
            </a:r>
            <a:br>
              <a:rPr lang="de-DE" sz="2400"/>
            </a:br>
            <a:r>
              <a:rPr lang="de-DE" sz="2400"/>
              <a:t>Übersichtsdiagramm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8FBE787-8B1D-40E5-8468-6F665BB5D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43268" y="0"/>
            <a:ext cx="488370" cy="68804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5674255C-68BB-D072-B70E-99CC8F5364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18706" y="2211069"/>
            <a:ext cx="4439894" cy="4113531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Grafik 6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A360D65E-1E40-AD9B-1460-C16448C7D7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835" y="542926"/>
            <a:ext cx="5959432" cy="5490493"/>
          </a:xfrm>
          <a:prstGeom prst="rect">
            <a:avLst/>
          </a:prstGeom>
        </p:spPr>
      </p:pic>
      <p:pic>
        <p:nvPicPr>
          <p:cNvPr id="10" name="Grafik 9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DD9831E2-10C2-0885-AC1A-BEB03CB97D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102" y="2211069"/>
            <a:ext cx="5605167" cy="447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165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6707B9-40BB-6781-FBF9-57FA3E322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657" y="533401"/>
            <a:ext cx="11310257" cy="1382156"/>
          </a:xfrm>
        </p:spPr>
        <p:txBody>
          <a:bodyPr>
            <a:normAutofit/>
          </a:bodyPr>
          <a:lstStyle/>
          <a:p>
            <a:r>
              <a:rPr lang="de-DE" dirty="0"/>
              <a:t>Systemabläufe und Prozessfluss</a:t>
            </a:r>
          </a:p>
        </p:txBody>
      </p:sp>
      <p:pic>
        <p:nvPicPr>
          <p:cNvPr id="5" name="Inhaltsplatzhalter 4" descr="Ein Bild, das Text, Screenshot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B28404AE-BC3B-311C-F04D-A234DB4D3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90" y="1662804"/>
            <a:ext cx="6024010" cy="4024313"/>
          </a:xfrm>
        </p:spPr>
      </p:pic>
      <p:pic>
        <p:nvPicPr>
          <p:cNvPr id="7" name="Grafik 6" descr="Ein Bild, das Text, Screenshot, Diagramm, parallel enthält.&#10;&#10;KI-generierte Inhalte können fehlerhaft sein.">
            <a:extLst>
              <a:ext uri="{FF2B5EF4-FFF2-40B4-BE49-F238E27FC236}">
                <a16:creationId xmlns:a16="http://schemas.microsoft.com/office/drawing/2014/main" id="{1A7240F0-751E-82A9-94FD-C1B27DD332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5974" y="1662804"/>
            <a:ext cx="6046026" cy="4409043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EA807667-D2BE-504D-B960-2470FD3444FE}"/>
              </a:ext>
            </a:extLst>
          </p:cNvPr>
          <p:cNvSpPr txBox="1"/>
          <p:nvPr/>
        </p:nvSpPr>
        <p:spPr>
          <a:xfrm>
            <a:off x="1415142" y="5702515"/>
            <a:ext cx="2300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 Login mit </a:t>
            </a:r>
            <a:r>
              <a:rPr lang="de-DE" dirty="0" err="1"/>
              <a:t>bcrypt</a:t>
            </a:r>
            <a:r>
              <a:rPr lang="de-DE" dirty="0"/>
              <a:t> </a:t>
            </a:r>
            <a:r>
              <a:rPr lang="de-DE" dirty="0" err="1"/>
              <a:t>Hashing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A9ABB252-A8BC-128D-48E5-ECF6500EDDCF}"/>
              </a:ext>
            </a:extLst>
          </p:cNvPr>
          <p:cNvSpPr txBox="1"/>
          <p:nvPr/>
        </p:nvSpPr>
        <p:spPr>
          <a:xfrm>
            <a:off x="8262258" y="6139933"/>
            <a:ext cx="1184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JSON laden</a:t>
            </a:r>
          </a:p>
        </p:txBody>
      </p:sp>
    </p:spTree>
    <p:extLst>
      <p:ext uri="{BB962C8B-B14F-4D97-AF65-F5344CB8AC3E}">
        <p14:creationId xmlns:p14="http://schemas.microsoft.com/office/powerpoint/2010/main" val="7368958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8222250-799A-4AD0-9BD1-BE6EB7A06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770432A-C0A6-4D4F-AE2C-705049DAB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6244921" y="-5976"/>
            <a:ext cx="5947079" cy="6874927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677452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693787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842978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435688"/>
              <a:gd name="connsiteY0" fmla="*/ 0 h 6874927"/>
              <a:gd name="connsiteX1" fmla="*/ 4435688 w 4435688"/>
              <a:gd name="connsiteY1" fmla="*/ 4763 h 6874927"/>
              <a:gd name="connsiteX2" fmla="*/ 3842978 w 4435688"/>
              <a:gd name="connsiteY2" fmla="*/ 6874927 h 6874927"/>
              <a:gd name="connsiteX3" fmla="*/ 0 w 4435688"/>
              <a:gd name="connsiteY3" fmla="*/ 6863976 h 6874927"/>
              <a:gd name="connsiteX4" fmla="*/ 0 w 4435688"/>
              <a:gd name="connsiteY4" fmla="*/ 0 h 6874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5688" h="6874927">
                <a:moveTo>
                  <a:pt x="0" y="0"/>
                </a:moveTo>
                <a:lnTo>
                  <a:pt x="4435688" y="4763"/>
                </a:lnTo>
                <a:lnTo>
                  <a:pt x="3842978" y="6874927"/>
                </a:lnTo>
                <a:lnTo>
                  <a:pt x="0" y="686397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1F4BD37-E557-37DF-3AC6-8A11B25CA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1255103"/>
            <a:ext cx="5270053" cy="4347793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8FBE787-8B1D-40E5-8468-6F665BB5D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43268" y="0"/>
            <a:ext cx="488370" cy="68804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DB05E614-8E2D-8A4E-4748-76248C63546F}"/>
              </a:ext>
            </a:extLst>
          </p:cNvPr>
          <p:cNvSpPr txBox="1"/>
          <p:nvPr/>
        </p:nvSpPr>
        <p:spPr>
          <a:xfrm rot="21128540">
            <a:off x="7407378" y="2413353"/>
            <a:ext cx="4439894" cy="4113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spcAft>
                <a:spcPts val="600"/>
              </a:spcAft>
              <a:buSzPct val="80000"/>
            </a:pPr>
            <a:r>
              <a:rPr lang="en-US" sz="2400" dirty="0" err="1">
                <a:solidFill>
                  <a:schemeClr val="tx2"/>
                </a:solidFill>
              </a:rPr>
              <a:t>Daten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prüfen</a:t>
            </a:r>
            <a:r>
              <a:rPr lang="en-US" sz="2400" dirty="0">
                <a:solidFill>
                  <a:schemeClr val="tx2"/>
                </a:solidFill>
              </a:rPr>
              <a:t> und </a:t>
            </a:r>
            <a:r>
              <a:rPr lang="en-US" sz="2400" dirty="0" err="1">
                <a:solidFill>
                  <a:schemeClr val="tx2"/>
                </a:solidFill>
              </a:rPr>
              <a:t>freigeben</a:t>
            </a:r>
            <a:endParaRPr lang="en-US"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73178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8222250-799A-4AD0-9BD1-BE6EB7A06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770432A-C0A6-4D4F-AE2C-705049DAB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6244921" y="-5976"/>
            <a:ext cx="5947079" cy="6874927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677452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693787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842978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435688"/>
              <a:gd name="connsiteY0" fmla="*/ 0 h 6874927"/>
              <a:gd name="connsiteX1" fmla="*/ 4435688 w 4435688"/>
              <a:gd name="connsiteY1" fmla="*/ 4763 h 6874927"/>
              <a:gd name="connsiteX2" fmla="*/ 3842978 w 4435688"/>
              <a:gd name="connsiteY2" fmla="*/ 6874927 h 6874927"/>
              <a:gd name="connsiteX3" fmla="*/ 0 w 4435688"/>
              <a:gd name="connsiteY3" fmla="*/ 6863976 h 6874927"/>
              <a:gd name="connsiteX4" fmla="*/ 0 w 4435688"/>
              <a:gd name="connsiteY4" fmla="*/ 0 h 6874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5688" h="6874927">
                <a:moveTo>
                  <a:pt x="0" y="0"/>
                </a:moveTo>
                <a:lnTo>
                  <a:pt x="4435688" y="4763"/>
                </a:lnTo>
                <a:lnTo>
                  <a:pt x="3842978" y="6874927"/>
                </a:lnTo>
                <a:lnTo>
                  <a:pt x="0" y="686397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2FF228D-5023-2EE7-79E3-A4ABEC313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50" y="533400"/>
            <a:ext cx="4965953" cy="5791200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8FBE787-8B1D-40E5-8468-6F665BB5D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43268" y="0"/>
            <a:ext cx="488370" cy="68804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D2171895-6821-38C9-33A4-074490FCB33D}"/>
              </a:ext>
            </a:extLst>
          </p:cNvPr>
          <p:cNvSpPr txBox="1"/>
          <p:nvPr/>
        </p:nvSpPr>
        <p:spPr>
          <a:xfrm rot="21096345">
            <a:off x="7151213" y="2319925"/>
            <a:ext cx="4439894" cy="4113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spcAft>
                <a:spcPts val="600"/>
              </a:spcAft>
              <a:buSzPct val="80000"/>
            </a:pPr>
            <a:r>
              <a:rPr lang="en-US" sz="2800" dirty="0">
                <a:solidFill>
                  <a:schemeClr val="tx2"/>
                </a:solidFill>
              </a:rPr>
              <a:t>PDF </a:t>
            </a:r>
            <a:r>
              <a:rPr lang="en-US" sz="2800" dirty="0" err="1">
                <a:solidFill>
                  <a:schemeClr val="tx2"/>
                </a:solidFill>
              </a:rPr>
              <a:t>Generierung</a:t>
            </a:r>
            <a:endParaRPr 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965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F8222250-799A-4AD0-9BD1-BE6EB7A06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B770432A-C0A6-4D4F-AE2C-705049DAB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6244921" y="-5976"/>
            <a:ext cx="5947079" cy="6874927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677452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693787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842978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435688"/>
              <a:gd name="connsiteY0" fmla="*/ 0 h 6874927"/>
              <a:gd name="connsiteX1" fmla="*/ 4435688 w 4435688"/>
              <a:gd name="connsiteY1" fmla="*/ 4763 h 6874927"/>
              <a:gd name="connsiteX2" fmla="*/ 3842978 w 4435688"/>
              <a:gd name="connsiteY2" fmla="*/ 6874927 h 6874927"/>
              <a:gd name="connsiteX3" fmla="*/ 0 w 4435688"/>
              <a:gd name="connsiteY3" fmla="*/ 6863976 h 6874927"/>
              <a:gd name="connsiteX4" fmla="*/ 0 w 4435688"/>
              <a:gd name="connsiteY4" fmla="*/ 0 h 6874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5688" h="6874927">
                <a:moveTo>
                  <a:pt x="0" y="0"/>
                </a:moveTo>
                <a:lnTo>
                  <a:pt x="4435688" y="4763"/>
                </a:lnTo>
                <a:lnTo>
                  <a:pt x="3842978" y="6874927"/>
                </a:lnTo>
                <a:lnTo>
                  <a:pt x="0" y="686397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537DB585-448A-A85B-C190-E16FA34D7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618305"/>
            <a:ext cx="5270053" cy="5621389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8FBE787-8B1D-40E5-8468-6F665BB5D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43268" y="0"/>
            <a:ext cx="488370" cy="68804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feld 3">
            <a:extLst>
              <a:ext uri="{FF2B5EF4-FFF2-40B4-BE49-F238E27FC236}">
                <a16:creationId xmlns:a16="http://schemas.microsoft.com/office/drawing/2014/main" id="{B9817238-2ACA-7BEC-8829-1D2A233734F1}"/>
              </a:ext>
            </a:extLst>
          </p:cNvPr>
          <p:cNvSpPr txBox="1"/>
          <p:nvPr/>
        </p:nvSpPr>
        <p:spPr>
          <a:xfrm rot="21076242">
            <a:off x="7508536" y="2453785"/>
            <a:ext cx="4439894" cy="41135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ctr">
              <a:spcAft>
                <a:spcPts val="600"/>
              </a:spcAft>
              <a:buSzPct val="80000"/>
            </a:pPr>
            <a:r>
              <a:rPr lang="en-US" sz="3200" dirty="0">
                <a:solidFill>
                  <a:schemeClr val="tx2"/>
                </a:solidFill>
              </a:rPr>
              <a:t>PDF-</a:t>
            </a:r>
            <a:r>
              <a:rPr lang="en-US" sz="3200" dirty="0" err="1">
                <a:solidFill>
                  <a:schemeClr val="tx2"/>
                </a:solidFill>
              </a:rPr>
              <a:t>Filterung</a:t>
            </a:r>
            <a:endParaRPr lang="en-US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28473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8222250-799A-4AD0-9BD1-BE6EB7A06A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B770432A-C0A6-4D4F-AE2C-705049DAB8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6244921" y="-5976"/>
            <a:ext cx="5947079" cy="6874927"/>
          </a:xfrm>
          <a:custGeom>
            <a:avLst/>
            <a:gdLst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2493114 w 4584879"/>
              <a:gd name="connsiteY2" fmla="*/ 6863976 h 6863976"/>
              <a:gd name="connsiteX3" fmla="*/ 0 w 4584879"/>
              <a:gd name="connsiteY3" fmla="*/ 6863976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571269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63976"/>
              <a:gd name="connsiteX1" fmla="*/ 4584879 w 4584879"/>
              <a:gd name="connsiteY1" fmla="*/ 0 h 6863976"/>
              <a:gd name="connsiteX2" fmla="*/ 3677452 w 4584879"/>
              <a:gd name="connsiteY2" fmla="*/ 6853025 h 6863976"/>
              <a:gd name="connsiteX3" fmla="*/ 0 w 4584879"/>
              <a:gd name="connsiteY3" fmla="*/ 6863976 h 6863976"/>
              <a:gd name="connsiteX4" fmla="*/ 0 w 4584879"/>
              <a:gd name="connsiteY4" fmla="*/ 0 h 6863976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693787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584879"/>
              <a:gd name="connsiteY0" fmla="*/ 0 h 6874927"/>
              <a:gd name="connsiteX1" fmla="*/ 4584879 w 4584879"/>
              <a:gd name="connsiteY1" fmla="*/ 0 h 6874927"/>
              <a:gd name="connsiteX2" fmla="*/ 3842978 w 4584879"/>
              <a:gd name="connsiteY2" fmla="*/ 6874927 h 6874927"/>
              <a:gd name="connsiteX3" fmla="*/ 0 w 4584879"/>
              <a:gd name="connsiteY3" fmla="*/ 6863976 h 6874927"/>
              <a:gd name="connsiteX4" fmla="*/ 0 w 4584879"/>
              <a:gd name="connsiteY4" fmla="*/ 0 h 6874927"/>
              <a:gd name="connsiteX0" fmla="*/ 0 w 4435688"/>
              <a:gd name="connsiteY0" fmla="*/ 0 h 6874927"/>
              <a:gd name="connsiteX1" fmla="*/ 4435688 w 4435688"/>
              <a:gd name="connsiteY1" fmla="*/ 4763 h 6874927"/>
              <a:gd name="connsiteX2" fmla="*/ 3842978 w 4435688"/>
              <a:gd name="connsiteY2" fmla="*/ 6874927 h 6874927"/>
              <a:gd name="connsiteX3" fmla="*/ 0 w 4435688"/>
              <a:gd name="connsiteY3" fmla="*/ 6863976 h 6874927"/>
              <a:gd name="connsiteX4" fmla="*/ 0 w 4435688"/>
              <a:gd name="connsiteY4" fmla="*/ 0 h 68749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5688" h="6874927">
                <a:moveTo>
                  <a:pt x="0" y="0"/>
                </a:moveTo>
                <a:lnTo>
                  <a:pt x="4435688" y="4763"/>
                </a:lnTo>
                <a:lnTo>
                  <a:pt x="3842978" y="6874927"/>
                </a:lnTo>
                <a:lnTo>
                  <a:pt x="0" y="6863976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6B4A589-267E-567B-5724-3F5A0ACF0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8705" y="542926"/>
            <a:ext cx="4439894" cy="16681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dirty="0" err="1"/>
              <a:t>Verwendete</a:t>
            </a:r>
            <a:r>
              <a:rPr lang="en-US" sz="3700" dirty="0"/>
              <a:t> </a:t>
            </a:r>
            <a:r>
              <a:rPr lang="en-US" sz="3700" dirty="0" err="1"/>
              <a:t>Technologien</a:t>
            </a:r>
            <a:endParaRPr lang="en-US" sz="3700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4A636309-4379-623E-DF41-3B55A25EB6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793973"/>
            <a:ext cx="5270053" cy="5270053"/>
          </a:xfrm>
          <a:prstGeom prst="rect">
            <a:avLst/>
          </a:prstGeom>
        </p:spPr>
      </p:pic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8FBE787-8B1D-40E5-8468-6F665BB5D7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243268" y="0"/>
            <a:ext cx="488370" cy="6880404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287A263-BEF2-6B14-61EB-85E7E7004D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005242" y="2211069"/>
            <a:ext cx="4653358" cy="4113531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b="1" dirty="0"/>
              <a:t>Web </a:t>
            </a:r>
            <a:r>
              <a:rPr lang="en-US" b="1" dirty="0" err="1"/>
              <a:t>Standarts</a:t>
            </a:r>
            <a:endParaRPr lang="en-US" b="1" dirty="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/>
              <a:t>HTML (</a:t>
            </a:r>
            <a:r>
              <a:rPr lang="en-US" dirty="0" err="1"/>
              <a:t>HyperText</a:t>
            </a:r>
            <a:r>
              <a:rPr lang="en-US" dirty="0"/>
              <a:t> Markup Language)</a:t>
            </a:r>
          </a:p>
          <a:p>
            <a:pPr marL="114300"/>
            <a:r>
              <a:rPr lang="de-DE" dirty="0"/>
              <a:t>	um die Grundstruktur der Webanwendung 	sowie die Formularvorlagen abzubilden, die als 	Basis für die spätere PDF-Erzeugung dienen.</a:t>
            </a:r>
            <a:r>
              <a:rPr lang="en-US" dirty="0"/>
              <a:t> </a:t>
            </a:r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/>
              <a:t>CSS (Cascading Style Sheets) </a:t>
            </a:r>
          </a:p>
          <a:p>
            <a:pPr marL="114300"/>
            <a:r>
              <a:rPr lang="en-US" dirty="0"/>
              <a:t>	</a:t>
            </a:r>
            <a:r>
              <a:rPr lang="de-DE" dirty="0"/>
              <a:t>um das Layout und das visuelle 	Erscheinungsbild der Anwendung und der 	Vorlagen zu gestalten, sodass diese möglichst 	nah an den offiziellen PDF-Formularen orientiert 	sind.</a:t>
            </a:r>
            <a:endParaRPr lang="en-US" dirty="0"/>
          </a:p>
          <a:p>
            <a:pPr marL="342900" indent="-228600">
              <a:buFont typeface="Arial" panose="020B0604020202020204" pitchFamily="34" charset="0"/>
              <a:buChar char="•"/>
            </a:pPr>
            <a:r>
              <a:rPr lang="en-US" dirty="0"/>
              <a:t>JavaScript </a:t>
            </a:r>
          </a:p>
          <a:p>
            <a:pPr marL="114300"/>
            <a:r>
              <a:rPr lang="de-DE" dirty="0"/>
              <a:t>	um die Anwendungslogik im Browser umzusetzen, 	Formularinhalte zu verarbeiten, Eingaben zu 	validieren und die PDF-Erstellung zu steuern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7079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0A34275-CD0A-499C-9600-C96742FAC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852546B-EF97-46E8-A930-3A0334106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7587" y="2720800"/>
            <a:ext cx="3470809" cy="413266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2801F4A-0A74-45E0-8E5A-65A65252A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-4540"/>
            <a:ext cx="1274412" cy="49672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D245F29-ABE7-4BB1-8164-5F4C4604B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5257800" y="0"/>
            <a:ext cx="6926614" cy="112236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9E673566-1E20-B1BE-6FC3-99F5C63668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014" y="1122363"/>
            <a:ext cx="3316463" cy="302530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3100" dirty="0"/>
              <a:t>Framework:</a:t>
            </a:r>
            <a:br>
              <a:rPr lang="en-US" sz="3100" dirty="0"/>
            </a:br>
            <a:r>
              <a:rPr lang="en-US" sz="3100" dirty="0"/>
              <a:t>Node.js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F00EEAF-0634-4EEB-81E5-9FBC2170F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7102" y="6051582"/>
            <a:ext cx="4847312" cy="80641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53E11676-332F-449D-9A03-6CE4ED25C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225160" y="0"/>
            <a:ext cx="3541141" cy="68580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F8E67A67-2340-C674-C5F6-3CD1186601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755" y="1482374"/>
            <a:ext cx="7228091" cy="3888712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D8C4A7A4-A8B4-FB4E-EEED-79598F012733}"/>
              </a:ext>
            </a:extLst>
          </p:cNvPr>
          <p:cNvSpPr txBox="1"/>
          <p:nvPr/>
        </p:nvSpPr>
        <p:spPr>
          <a:xfrm>
            <a:off x="8430870" y="4200172"/>
            <a:ext cx="37290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Um die serverseitige Logik bereitzustellen, einschließlich Datenverarbeitung, Zugriffskontrolle und PDF-Verwaltung</a:t>
            </a:r>
          </a:p>
        </p:txBody>
      </p:sp>
    </p:spTree>
    <p:extLst>
      <p:ext uri="{BB962C8B-B14F-4D97-AF65-F5344CB8AC3E}">
        <p14:creationId xmlns:p14="http://schemas.microsoft.com/office/powerpoint/2010/main" val="28748470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A3B6404-C37D-4FE3-8124-9FC5ECE56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C64A9919-C77B-4DEE-B7F8-B9A289E9E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7289975" cy="133894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F67B5ED5-2C08-4519-B88A-E933BAA847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4827850"/>
            <a:ext cx="12192000" cy="205405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F5976A1-D82F-48DD-570E-0A24F1B6F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4143" y="4912343"/>
            <a:ext cx="10102920" cy="9976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1900" dirty="0" err="1"/>
              <a:t>Datenformat</a:t>
            </a:r>
            <a:r>
              <a:rPr lang="en-US" sz="1900" dirty="0"/>
              <a:t>:</a:t>
            </a:r>
            <a:br>
              <a:rPr lang="en-US" sz="1900" dirty="0"/>
            </a:br>
            <a:r>
              <a:rPr lang="en-US" sz="1900" dirty="0"/>
              <a:t>JSON</a:t>
            </a:r>
            <a:br>
              <a:rPr lang="en-US" sz="1900" dirty="0"/>
            </a:br>
            <a:r>
              <a:rPr lang="de-DE" sz="1900" dirty="0"/>
              <a:t>als Austausch- und Speicherformat für strukturierte Formulardaten</a:t>
            </a:r>
            <a:endParaRPr lang="en-US" sz="190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BB9CE4F-048D-4320-B7EF-E5AEA4020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60990" y="0"/>
            <a:ext cx="863010" cy="4850297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17DE3F0-E5A7-4C2D-927E-566380867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3632375"/>
            <a:ext cx="3875314" cy="11954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E9EA87C-793F-4321-A0BC-4DB860289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763624" y="1392865"/>
            <a:ext cx="1428376" cy="3457432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EE00FC4-5601-4185-8A23-E15BD4D7B4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367404" y="0"/>
            <a:ext cx="1824596" cy="433891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Grafik 5" descr="Ein Bild, das Schrift, Grafiken, Grafikdesign, Logo enthält.&#10;&#10;KI-generierte Inhalte können fehlerhaft sein.">
            <a:extLst>
              <a:ext uri="{FF2B5EF4-FFF2-40B4-BE49-F238E27FC236}">
                <a16:creationId xmlns:a16="http://schemas.microsoft.com/office/drawing/2014/main" id="{305EBB9B-B52D-12FF-D5E4-18E9A46355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476" y="533400"/>
            <a:ext cx="9385048" cy="3721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465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61D66B1-5F3D-7D96-A43F-93DB1F549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Containerverwaltung:</a:t>
            </a:r>
            <a:br>
              <a:rPr lang="de-DE" dirty="0"/>
            </a:br>
            <a:r>
              <a:rPr lang="de-DE" dirty="0" err="1"/>
              <a:t>Podman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B9E36A7-9F0E-F145-D3DE-B2FC123CA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002" y="2889970"/>
            <a:ext cx="5083310" cy="1687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4619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9B523F0-9F96-77F7-7BED-1D7A27B4C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5571898" cy="1088571"/>
          </a:xfrm>
        </p:spPr>
        <p:txBody>
          <a:bodyPr/>
          <a:lstStyle/>
          <a:p>
            <a:r>
              <a:rPr lang="de-DE" dirty="0"/>
              <a:t>Stand der Technik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C67CE73-250E-E445-416E-3F6088F113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399"/>
            <a:ext cx="10405155" cy="4223657"/>
          </a:xfrm>
        </p:spPr>
        <p:txBody>
          <a:bodyPr>
            <a:normAutofit/>
          </a:bodyPr>
          <a:lstStyle/>
          <a:p>
            <a:r>
              <a:rPr lang="de-DE" sz="2000" b="1" dirty="0"/>
              <a:t>Clientseitige </a:t>
            </a:r>
            <a:r>
              <a:rPr lang="de-DE" sz="2000" b="1" dirty="0" err="1"/>
              <a:t>Rasterisierung</a:t>
            </a:r>
            <a:r>
              <a:rPr lang="de-DE" sz="2000" b="1" dirty="0"/>
              <a:t> </a:t>
            </a:r>
            <a:r>
              <a:rPr lang="de-DE" sz="2000" dirty="0"/>
              <a:t>(</a:t>
            </a:r>
            <a:r>
              <a:rPr lang="de-DE" sz="2000" b="1" dirty="0"/>
              <a:t>html2pdf.js</a:t>
            </a:r>
            <a:r>
              <a:rPr lang="de-DE" sz="2000" dirty="0"/>
              <a:t>): Einfache Integration und kein Serverbetrieb notwendig, aber oft Rasterausgabe und fehlende Textsemantik. </a:t>
            </a:r>
          </a:p>
          <a:p>
            <a:r>
              <a:rPr lang="de-DE" sz="2000" b="1" dirty="0" err="1"/>
              <a:t>Headless</a:t>
            </a:r>
            <a:r>
              <a:rPr lang="de-DE" sz="2000" b="1" dirty="0"/>
              <a:t>-Browser (</a:t>
            </a:r>
            <a:r>
              <a:rPr lang="de-DE" sz="2000" b="1" dirty="0" err="1"/>
              <a:t>Puppeteer</a:t>
            </a:r>
            <a:r>
              <a:rPr lang="de-DE" sz="2000" b="1" dirty="0"/>
              <a:t>): </a:t>
            </a:r>
            <a:r>
              <a:rPr lang="de-DE" sz="2000" dirty="0"/>
              <a:t>Liefert typischerweise qualitativ hochwertige, vektorbasierte PDFs mit erhaltenem Text, erfordert jedoch serverseitige Infrastruktur. </a:t>
            </a:r>
          </a:p>
          <a:p>
            <a:r>
              <a:rPr lang="de-DE" sz="2000" b="1" dirty="0"/>
              <a:t>PDF-Manipulation / </a:t>
            </a:r>
            <a:r>
              <a:rPr lang="de-DE" sz="2000" b="1" dirty="0" err="1"/>
              <a:t>AcroForms</a:t>
            </a:r>
            <a:r>
              <a:rPr lang="de-DE" sz="2000" b="1" dirty="0"/>
              <a:t> (</a:t>
            </a:r>
            <a:r>
              <a:rPr lang="de-DE" sz="2000" b="1" dirty="0" err="1"/>
              <a:t>pdf-lib</a:t>
            </a:r>
            <a:r>
              <a:rPr lang="de-DE" sz="2000" b="1" dirty="0"/>
              <a:t>, FDF/XFDF): </a:t>
            </a:r>
            <a:r>
              <a:rPr lang="de-DE" sz="2000" dirty="0"/>
              <a:t>Besonders robust für Formular-Workflows, vorteilhaft wenn </a:t>
            </a:r>
            <a:r>
              <a:rPr lang="de-DE" sz="2000" dirty="0" err="1"/>
              <a:t>AcroForm</a:t>
            </a:r>
            <a:r>
              <a:rPr lang="de-DE" sz="2000" dirty="0"/>
              <a:t>-Felder vorhanden sind oder erzeugt werden können.</a:t>
            </a:r>
          </a:p>
        </p:txBody>
      </p:sp>
    </p:spTree>
    <p:extLst>
      <p:ext uri="{BB962C8B-B14F-4D97-AF65-F5344CB8AC3E}">
        <p14:creationId xmlns:p14="http://schemas.microsoft.com/office/powerpoint/2010/main" val="36670157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A486CF6-7C71-3429-92B5-E95DFFF2B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9229" y="533401"/>
            <a:ext cx="11440885" cy="1382156"/>
          </a:xfrm>
        </p:spPr>
        <p:txBody>
          <a:bodyPr/>
          <a:lstStyle/>
          <a:p>
            <a:r>
              <a:rPr lang="de-DE" dirty="0"/>
              <a:t>Implementierung der Anwendung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C2CCFE0-9FDF-E0C3-1954-A374B71092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4777" y="1548493"/>
            <a:ext cx="5422445" cy="4588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1447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2E4AB7A0-7C01-1D0A-9C67-600AF9B5DC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9683" y="100693"/>
            <a:ext cx="7296831" cy="667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988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C15FA6C-B557-0D1E-1A53-7C6B287725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6161"/>
            <a:ext cx="12192000" cy="650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4853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6FF7D05-9C55-32D7-098E-AAF881668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Auswertung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B70CEE1-C811-6B38-D034-B2CED458E5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062" y="2159783"/>
            <a:ext cx="8409099" cy="312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603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8">
            <a:extLst>
              <a:ext uri="{FF2B5EF4-FFF2-40B4-BE49-F238E27FC236}">
                <a16:creationId xmlns:a16="http://schemas.microsoft.com/office/drawing/2014/main" id="{4436E0F2-A64B-471E-93C0-8DFE08CC57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10">
            <a:extLst>
              <a:ext uri="{FF2B5EF4-FFF2-40B4-BE49-F238E27FC236}">
                <a16:creationId xmlns:a16="http://schemas.microsoft.com/office/drawing/2014/main" id="{DC1E3AB1-2A8C-4607-9FAE-D8BDB280F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12">
            <a:extLst>
              <a:ext uri="{FF2B5EF4-FFF2-40B4-BE49-F238E27FC236}">
                <a16:creationId xmlns:a16="http://schemas.microsoft.com/office/drawing/2014/main" id="{26D66059-832F-40B6-A35F-F56C8F38A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14">
            <a:extLst>
              <a:ext uri="{FF2B5EF4-FFF2-40B4-BE49-F238E27FC236}">
                <a16:creationId xmlns:a16="http://schemas.microsoft.com/office/drawing/2014/main" id="{A515E2ED-7EA9-448D-83FA-54C3DF9723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16">
            <a:extLst>
              <a:ext uri="{FF2B5EF4-FFF2-40B4-BE49-F238E27FC236}">
                <a16:creationId xmlns:a16="http://schemas.microsoft.com/office/drawing/2014/main" id="{20595356-EABD-4767-AC9D-EA21FF115E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18">
            <a:extLst>
              <a:ext uri="{FF2B5EF4-FFF2-40B4-BE49-F238E27FC236}">
                <a16:creationId xmlns:a16="http://schemas.microsoft.com/office/drawing/2014/main" id="{28CD9F06-9628-469C-B788-A894E3E08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20">
            <a:extLst>
              <a:ext uri="{FF2B5EF4-FFF2-40B4-BE49-F238E27FC236}">
                <a16:creationId xmlns:a16="http://schemas.microsoft.com/office/drawing/2014/main" id="{8550A431-0B61-421B-B4B7-24C0CFF0F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0" name="Rectangle 22">
            <a:extLst>
              <a:ext uri="{FF2B5EF4-FFF2-40B4-BE49-F238E27FC236}">
                <a16:creationId xmlns:a16="http://schemas.microsoft.com/office/drawing/2014/main" id="{10A34275-CD0A-499C-9600-C96742FACE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24">
            <a:extLst>
              <a:ext uri="{FF2B5EF4-FFF2-40B4-BE49-F238E27FC236}">
                <a16:creationId xmlns:a16="http://schemas.microsoft.com/office/drawing/2014/main" id="{1852546B-EF97-46E8-A930-3A0334106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7587" y="2720800"/>
            <a:ext cx="3470809" cy="413266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26">
            <a:extLst>
              <a:ext uri="{FF2B5EF4-FFF2-40B4-BE49-F238E27FC236}">
                <a16:creationId xmlns:a16="http://schemas.microsoft.com/office/drawing/2014/main" id="{12801F4A-0A74-45E0-8E5A-65A65252A3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0" y="-4540"/>
            <a:ext cx="1274412" cy="496722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28">
            <a:extLst>
              <a:ext uri="{FF2B5EF4-FFF2-40B4-BE49-F238E27FC236}">
                <a16:creationId xmlns:a16="http://schemas.microsoft.com/office/drawing/2014/main" id="{AD245F29-ABE7-4BB1-8164-5F4C4604B2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5257800" y="0"/>
            <a:ext cx="6926614" cy="1122363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el 1">
            <a:extLst>
              <a:ext uri="{FF2B5EF4-FFF2-40B4-BE49-F238E27FC236}">
                <a16:creationId xmlns:a16="http://schemas.microsoft.com/office/drawing/2014/main" id="{5A547662-88F3-6609-8F21-260796578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014" y="1122363"/>
            <a:ext cx="3316463" cy="302530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2100"/>
              <a:t>Zeitlicher Ablauf und Qualitätsvergleich vor und nach der Digitalisierung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CF00EEAF-0634-4EEB-81E5-9FBC2170F3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37102" y="6051582"/>
            <a:ext cx="4847312" cy="80641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3E11676-332F-449D-9A03-6CE4ED25CC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4225160" y="0"/>
            <a:ext cx="3541141" cy="68580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 descr="Ein Bild, das Text, Screenshot, Zahl, Schrift enthält.&#10;&#10;KI-generierte Inhalte können fehlerhaft sein.">
            <a:extLst>
              <a:ext uri="{FF2B5EF4-FFF2-40B4-BE49-F238E27FC236}">
                <a16:creationId xmlns:a16="http://schemas.microsoft.com/office/drawing/2014/main" id="{21F3E0E6-5247-D98D-0D73-5AB5D9132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2005" y="528860"/>
            <a:ext cx="7089590" cy="5795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347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8195F5-E4EA-4091-9C30-9193D9158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Fazit und Evaluation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BD62925-5CAD-1122-6049-4507B9795C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143124"/>
            <a:ext cx="9787890" cy="349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3198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C576FE9-09BF-65D2-C31D-6D09D4A50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0"/>
            <a:ext cx="9906000" cy="5421085"/>
          </a:xfrm>
        </p:spPr>
        <p:txBody>
          <a:bodyPr>
            <a:normAutofit/>
          </a:bodyPr>
          <a:lstStyle/>
          <a:p>
            <a:pPr algn="ctr"/>
            <a:r>
              <a:rPr lang="de-DE" dirty="0"/>
              <a:t>Vielen Dank fürs Zuhören. Ich stehe jetzt gerne für Fragen zur Verfügung.</a:t>
            </a:r>
          </a:p>
        </p:txBody>
      </p:sp>
    </p:spTree>
    <p:extLst>
      <p:ext uri="{BB962C8B-B14F-4D97-AF65-F5344CB8AC3E}">
        <p14:creationId xmlns:p14="http://schemas.microsoft.com/office/powerpoint/2010/main" val="2996965316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Custom 34">
      <a:dk1>
        <a:sysClr val="windowText" lastClr="000000"/>
      </a:dk1>
      <a:lt1>
        <a:sysClr val="window" lastClr="FFFFFF"/>
      </a:lt1>
      <a:dk2>
        <a:srgbClr val="001E2E"/>
      </a:dk2>
      <a:lt2>
        <a:srgbClr val="F0ECEC"/>
      </a:lt2>
      <a:accent1>
        <a:srgbClr val="155767"/>
      </a:accent1>
      <a:accent2>
        <a:srgbClr val="BA9CA0"/>
      </a:accent2>
      <a:accent3>
        <a:srgbClr val="A57931"/>
      </a:accent3>
      <a:accent4>
        <a:srgbClr val="0E577C"/>
      </a:accent4>
      <a:accent5>
        <a:srgbClr val="CC846E"/>
      </a:accent5>
      <a:accent6>
        <a:srgbClr val="93767A"/>
      </a:accent6>
      <a:hlink>
        <a:srgbClr val="0563C1"/>
      </a:hlink>
      <a:folHlink>
        <a:srgbClr val="954F72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</Words>
  <Application>Microsoft Office PowerPoint</Application>
  <PresentationFormat>Breitbild</PresentationFormat>
  <Paragraphs>62</Paragraphs>
  <Slides>24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29" baseType="lpstr">
      <vt:lpstr>Arial</vt:lpstr>
      <vt:lpstr>Univers Condensed Light</vt:lpstr>
      <vt:lpstr>Walbaum Display Light</vt:lpstr>
      <vt:lpstr>Wingdings</vt:lpstr>
      <vt:lpstr>AngleLinesVTI</vt:lpstr>
      <vt:lpstr>Digitale Umsetzung eines Prozesses in der Hochschulverwaltung am Beispiel der Lehrplanung für ein Semester</vt:lpstr>
      <vt:lpstr>Inhalt</vt:lpstr>
      <vt:lpstr>Motivation &amp; Problemstellung </vt:lpstr>
      <vt:lpstr>PowerPoint-Präsentation</vt:lpstr>
      <vt:lpstr>Forschungsfragen</vt:lpstr>
      <vt:lpstr>Anforderungen</vt:lpstr>
      <vt:lpstr>Anwendungsfälle  Use-Case-Diagramm </vt:lpstr>
      <vt:lpstr>Systemarchitektur Übersichtsdiagramm</vt:lpstr>
      <vt:lpstr>Systemabläufe und Prozessfluss</vt:lpstr>
      <vt:lpstr>PowerPoint-Präsentation</vt:lpstr>
      <vt:lpstr>PowerPoint-Präsentation</vt:lpstr>
      <vt:lpstr>PowerPoint-Präsentation</vt:lpstr>
      <vt:lpstr>Verwendete Technologien</vt:lpstr>
      <vt:lpstr>Framework: Node.js</vt:lpstr>
      <vt:lpstr>Datenformat: JSON als Austausch- und Speicherformat für strukturierte Formulardaten</vt:lpstr>
      <vt:lpstr>Containerverwaltung: Podman</vt:lpstr>
      <vt:lpstr>Stand der Technik</vt:lpstr>
      <vt:lpstr>Implementierung der Anwendung</vt:lpstr>
      <vt:lpstr>PowerPoint-Präsentation</vt:lpstr>
      <vt:lpstr>PowerPoint-Präsentation</vt:lpstr>
      <vt:lpstr>Auswertung</vt:lpstr>
      <vt:lpstr>Zeitlicher Ablauf und Qualitätsvergleich vor und nach der Digitalisierung</vt:lpstr>
      <vt:lpstr>Fazit und Evaluation</vt:lpstr>
      <vt:lpstr>Vielen Dank fürs Zuhören. Ich stehe jetzt gerne für Fragen zur Verfügung.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Mkhalale, Fadi</dc:creator>
  <cp:lastModifiedBy>Mkhalale, Fadi</cp:lastModifiedBy>
  <cp:revision>19</cp:revision>
  <dcterms:created xsi:type="dcterms:W3CDTF">2025-11-24T13:52:09Z</dcterms:created>
  <dcterms:modified xsi:type="dcterms:W3CDTF">2026-01-07T22:33:02Z</dcterms:modified>
</cp:coreProperties>
</file>